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6" r:id="rId10"/>
    <p:sldId id="267" r:id="rId11"/>
    <p:sldId id="268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DFC756-57A7-4EB8-8B98-74ADB6929FD4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50E523-6544-479C-8887-9B5004224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5491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50E523-6544-479C-8887-9B5004224FB2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5713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07BBE-9E13-F838-94EB-44A91A4FC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5BE93D-0E84-8563-F73A-1741D48653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BB069-678A-E649-129D-1FFDB44D2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B82040-7787-53DE-C804-6C9E3B4CC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C4A1F-ABEE-6038-B151-907590AD9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6714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2FAF0-49C8-78F3-04E0-9CB0936DF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B901B-698C-5295-3094-441ED79547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7CD047-4388-9B85-421C-18514EC47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C467F-89E1-16BD-7796-E6D2F9B8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84A0A-59AF-2AA5-C9AA-EB3EFED7E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209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1B753-A7DD-EDE9-27C9-F6BCA63FE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A1BC4E-CB2D-0F73-C5E2-D19EFEC22D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084968-3837-3FE7-3F92-2A4BB481B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BD54-319C-9CB0-9DBC-7079C11E8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33B41-7348-07CB-E2D9-E62188562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2252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0F65D-894D-7280-2D94-C21CB336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0A262-7935-B487-EAC4-4413CAD5DE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85B11-DF84-8A6C-E6D5-401D8CF89F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6A5839-9D1F-B413-33DD-B8FE73AD5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94CA65-BEEA-0D60-D61A-B3E17358A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C9B64-5117-067C-1F92-DCCE98943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2480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B18C8-EB16-0642-D12E-189053D8A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E94694-52AF-C2DD-DF34-4013ABFB8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9F1977-4B3A-0354-D603-812E1F16C2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37FC0-F522-F41E-6E15-F00E802CF8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D94DBC-2235-A4DA-DCAC-5DA757179F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CA2AB5-345A-5977-E2B1-E48D9FB10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646A60-3124-4D36-741F-57F12F56D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91EC01-E72D-90EC-CDA1-D72E54CA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1741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55986-091D-A0DF-C390-09EC834FF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49AB47-2AFA-D5E1-0B6E-44D2189A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5A91D5-1906-B5A5-F8F8-0BBA2B77F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AE9F18-92A8-7A30-5F2F-F09369E54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3430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E6B84A-F527-E06C-9389-0BE35D925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4D1668-A53A-1B5C-3166-6D1D57B7C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62840D-1B76-03DA-C23C-CD621ED0B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295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1112E-B25A-7E68-EB70-A9637CCAB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1F878-CB4D-3CFF-2F1C-73245D519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EB6878-87D9-1B43-83AC-43BD93C179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8874E8-4A8B-72CD-FA81-DFD11E486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9292A5-EADF-D264-6EEE-D5712AEB6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62F0A9-B7F0-F8D1-0981-CE5AA1717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4858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C3ADE-4E0D-552B-FD1B-3192A5B65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605967-86E4-EE9C-4EA1-32C842982D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22725C-3C0F-D8DE-CB58-C5D406E530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FC8DA9-787D-7CEE-D46A-1835017E9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BE406E-FD2B-348D-81D2-AD44BB561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9D8A2D-35C4-D14F-F2AE-6AF26ED9A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5116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EE964-6ABB-0A69-1327-B63A358F2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303860-CB63-A57A-8C76-A91B74D4D4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A0324-AA3C-123B-A232-965B58B56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F42B4F-1833-DA20-7F69-1EB7FD42D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4A43-013D-8CFF-D7D6-04DC76B8E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1176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624D0E-6AB9-5617-AD3B-F64F7855AE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D8034D-6442-4879-03D0-3CBB4F720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B5773-9972-9B12-36E9-DB91687D8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F3C13-0428-ADA2-86C5-1D5B56B1C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67ECB-BF88-537F-F848-DF03AE2D3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398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D3E777-08DD-037C-6B7F-E3B6AC6C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BB21B2-F2ED-505E-717A-8B494B7D32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23BB51-56FE-BFF6-1542-BB0ADF7D61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C5A48-C080-8AFA-BBF1-CB670EF4E7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BAFBA-5342-BF23-4614-C2D5443E42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1097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hyperlink" Target="https://www.researchgate.net/publication/393329480_Machine_Learning_for_Fraud_Detection_in_Financial_Transactions?utm" TargetMode="External"/><Relationship Id="rId7" Type="http://schemas.openxmlformats.org/officeDocument/2006/relationships/hyperlink" Target="https://arxiv.org/abs/2503.10058?utm" TargetMode="External"/><Relationship Id="rId2" Type="http://schemas.openxmlformats.org/officeDocument/2006/relationships/hyperlink" Target="https://ijaseit.insightsociety.org/index.php/ijaseit/article/view/13160?u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dpi.com/2076-3417/12/19/9637?utm" TargetMode="External"/><Relationship Id="rId5" Type="http://schemas.openxmlformats.org/officeDocument/2006/relationships/hyperlink" Target="https://www.ijset.in/wp-content/uploads/IJSET_V13_issue6_144.pdf?utm" TargetMode="External"/><Relationship Id="rId4" Type="http://schemas.openxmlformats.org/officeDocument/2006/relationships/hyperlink" Target="https://www.researchgate.net/publication/388724525_Financial_Fraud_Detection_For_Credit_Card_Transactions_using_Apache_Spark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CF8A9-4CDB-91D2-963A-00476B34ED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78409"/>
            <a:ext cx="9144000" cy="2387600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and Prediction of Money Laundering Activities Using Big Data Analytics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BDB76E-6504-2CF3-D357-7530960BF6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85368" y="3289055"/>
            <a:ext cx="9915206" cy="2853995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 Raga Amrutha Ratna – 2320030355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 Bramhani – 2320030104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 Sheetal – 2320030092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Sreya Tulasi Kolasani - 2320090037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 – 4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 Name – Dr. P Krishna Kishore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27224C-8273-2634-8798-608FBC698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145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CB898-E372-3952-FBBF-5B6028350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777" y="230113"/>
            <a:ext cx="10515600" cy="1325563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21F1D-F391-3DB3-3ACB-FB60D5446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356" y="1460572"/>
            <a:ext cx="10703287" cy="4912759"/>
          </a:xfrm>
        </p:spPr>
        <p:txBody>
          <a:bodyPr>
            <a:normAutofit/>
          </a:bodyPr>
          <a:lstStyle/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institutions generate massive transaction data daily.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Detecting money laundering patterns manually is difficult.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systems struggle with large-scale, complex financial data.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 in financial fraud and illicit transactions.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automated, scalable fraud detection systems.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+ Machine Learning can improve detection accuracy.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Real-World Relevance Supports banks and regulatory bodies.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reduce financial crime risks.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Enhances trust in digital financial systems.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3A897C-CB68-A6A6-7006-DBAD8BA35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39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696AA-37ED-F34D-B1F3-31AB1C969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A61A6-C288-2E6C-75FC-7B200CED2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063" y="1825625"/>
            <a:ext cx="10515600" cy="3255739"/>
          </a:xfrm>
        </p:spPr>
        <p:txBody>
          <a:bodyPr>
            <a:normAutofit/>
          </a:bodyPr>
          <a:lstStyle/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Goals:</a:t>
            </a:r>
          </a:p>
          <a:p>
            <a:pPr marL="0" indent="0">
              <a:buNone/>
            </a:pP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large-scale financial transaction datasets. 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suspicious transaction patterns. 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 high-risk transactions and accounts.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Outcomes: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Big Data processing pipeline. 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model capable of fraud prediction. 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detection of potential money laundering </a:t>
            </a: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behavior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A61791-85B6-C4C2-AB92-D303CD1B5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070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578F1-6F1B-5413-D8FA-9BF379AF0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B8CA9-804B-47DE-6FC3-E5D70EC07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481" y="1521941"/>
            <a:ext cx="10961038" cy="4222196"/>
          </a:xfrm>
        </p:spPr>
        <p:txBody>
          <a:bodyPr>
            <a:normAutofit/>
          </a:bodyPr>
          <a:lstStyle/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Solutions: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Rule-based Anti-Money Laundering (AML) systems. 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Statistical anomaly detection techniques. 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learning-based fraud detection approaches. 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/ Research Gaps: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Poor scalability for big transaction datasets.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false positives in rule-based systems. 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integration of Big Data frameworks with ML.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 Identified: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scalable AML systems combining distributed processing with predictive ML models.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A8A001-5AF9-6F8F-447C-9CCAC12CCF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986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32E50-B163-6C10-922C-06ACBB4A6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7BB7D-356F-33CB-A2AE-E69DB66D3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Approach: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public and synthetic financial transaction datasets.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 and clean data.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 distributed processing using Apache Spark.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features (amount, frequency, time intervals, sender/receiver).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Machine Learning models for prediction.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 model performance.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/ Tools: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Spark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ecosystem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/ </a:t>
            </a:r>
            <a:r>
              <a:rPr lang="en-IN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PySpark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tools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17BAF9-4172-4255-FF1A-EAEC14C45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796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0B579-0F7A-8CEE-6F29-77BC308FA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3FA588-B747-1B3B-FD8A-D623C9CD3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E66299-EC2F-E6F3-9E04-2F06D851F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737" y="1816526"/>
            <a:ext cx="6360525" cy="395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981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3134F-AA8A-C72C-A8A6-C86A2DA10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Technologies &amp; Tools Used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DFA918-EEE2-9BDA-C3AC-EEBD8F9B8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  <p:sp>
        <p:nvSpPr>
          <p:cNvPr id="6" name="Rectangle 9">
            <a:extLst>
              <a:ext uri="{FF2B5EF4-FFF2-40B4-BE49-F238E27FC236}">
                <a16:creationId xmlns:a16="http://schemas.microsoft.com/office/drawing/2014/main" id="{97807B3D-F899-4A62-BA7F-4B710201D20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Languages: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Scala, SQL (HiveQL)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Big Data: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Hadoop, HDFS, Hive, Spark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ML: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Spark MLlib (Logistic Regression)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Processing: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Cleaning, Feature Engineering, Sampling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Tools: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Hortonworks HDP, Zeppelin, Ambari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Platform: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VirtualBox, Linux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Transfer: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HDFS Commands, SCP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Synthetic Financial Transaction Data (Fraud Labels) </a:t>
            </a:r>
          </a:p>
        </p:txBody>
      </p:sp>
    </p:spTree>
    <p:extLst>
      <p:ext uri="{BB962C8B-B14F-4D97-AF65-F5344CB8AC3E}">
        <p14:creationId xmlns:p14="http://schemas.microsoft.com/office/powerpoint/2010/main" val="336744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37EBD-7E85-D950-B903-51BEDB5C2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Expected Results &amp; Deliverables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16F64-199A-4E49-4D40-9DDD9C120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Results: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of suspicious transaction patterns.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of high-risk accounts.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 AML detection framework.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Deliverables Big Data processing pipeline.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Trained ML model.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 report.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C8BCBB-A46C-D5C7-5BFD-D95512423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466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27F7B-2EB0-1BF9-32EF-7D866C066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Output: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90FC96-8086-8F38-7B22-E95207CC7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40855A6-581D-B717-E3F3-5FC9A944E4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 bwMode="auto">
          <a:xfrm>
            <a:off x="204414" y="1985260"/>
            <a:ext cx="5306937" cy="3151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5E74BF-F287-9016-9AC9-A3C128BCE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7599" y="1571050"/>
            <a:ext cx="6578338" cy="4135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225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C29AE-ED53-E3B2-8A74-47E0FCEC3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58FAF2-D50F-8435-6CE2-012E86BEB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8ADCB6-888F-A39D-1D5A-B06D9F82F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970" y="1564913"/>
            <a:ext cx="5270201" cy="4239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467960-4778-DD1F-0835-9777C2282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780" y="1521941"/>
            <a:ext cx="6094751" cy="455665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16FD1F-8D08-D28A-76A9-2D9C68348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352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FD28F-2051-63EC-0A2F-4FA572434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E0D0C6-C525-35B0-FEF5-CEAF8FEDF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9AA82D-85FA-023D-A81D-76C67CB34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09" y="1873511"/>
            <a:ext cx="5665422" cy="37288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48ABBA-6AD2-B865-6FE6-21E7433C4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531" y="1763679"/>
            <a:ext cx="6182195" cy="42518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8B2EA6-229C-615C-AC92-66E815014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1468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5EAB2-DAC0-424A-1B63-232AEE7C8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544DC-A348-F855-8C79-7E5A44C831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97206"/>
          </a:xfrm>
        </p:spPr>
        <p:txBody>
          <a:bodyPr>
            <a:noAutofit/>
          </a:bodyPr>
          <a:lstStyle/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Fraud Detection using Machine Learning – IEEE  </a:t>
            </a:r>
            <a:r>
              <a:rPr lang="en-IN" sz="1800" u="sng" dirty="0">
                <a:hlinkClick r:id="rId2"/>
              </a:rPr>
              <a:t>https://ijaseit.insightsociety.org/index.php/ijaseit/article/view/13160?utm</a:t>
            </a:r>
            <a:endParaRPr lang="en-IN" sz="1800" u="sng" dirty="0"/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Analytics in Banking – Springer </a:t>
            </a:r>
            <a:r>
              <a:rPr lang="en-IN" sz="1800" u="sng" dirty="0">
                <a:hlinkClick r:id="rId3"/>
              </a:rPr>
              <a:t>https://www.researchgate.net/publication/393329480_Machine_Learning_for_Fraud_Detection_in_Financial_Transactions?utm</a:t>
            </a:r>
            <a:endParaRPr lang="en-IN" sz="1800" u="sng" dirty="0"/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Anti-Money Laundering Detection using Data Mining – Elsevier </a:t>
            </a:r>
            <a:r>
              <a:rPr lang="en-IN" sz="1800" u="sng" dirty="0">
                <a:hlinkClick r:id="rId4"/>
              </a:rPr>
              <a:t>https://www.researchgate.net/publication/388724525_Financial_Fraud_Detection_For_Credit_Card_Transactions_using_Apache_Spark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Apache Spark for Financial Analytics – ACM </a:t>
            </a:r>
            <a:r>
              <a:rPr lang="en-IN" sz="1800" u="sng" dirty="0">
                <a:hlinkClick r:id="rId5"/>
              </a:rPr>
              <a:t>https://www.ijset.in/wp-content/uploads/IJSET_V13_issue6_144.pdf?utm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for Fraud Detection – IEEE Access </a:t>
            </a:r>
            <a:r>
              <a:rPr lang="en-IN" sz="1800" u="sng" dirty="0">
                <a:hlinkClick r:id="rId6"/>
              </a:rPr>
              <a:t>https://www.mdpi.com/2076-3417/12/19/9637?utm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Applications in Banking Security – Wiley </a:t>
            </a:r>
            <a:r>
              <a:rPr lang="en-IN" sz="1800" u="sng" dirty="0">
                <a:hlinkClick r:id="rId7"/>
              </a:rPr>
              <a:t>https://arxiv.org/abs/2503.10058?utm</a:t>
            </a:r>
            <a:endParaRPr lang="en-IN" sz="1800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4B53ED-F78D-FCBF-DF5F-215E7A0930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3786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AB209-D8F3-A366-A15B-210FE6281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6011" y="2258384"/>
            <a:ext cx="4197647" cy="1638556"/>
          </a:xfrm>
        </p:spPr>
        <p:txBody>
          <a:bodyPr>
            <a:normAutofit/>
          </a:bodyPr>
          <a:lstStyle/>
          <a:p>
            <a:r>
              <a:rPr lang="en-US" sz="6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Thank You</a:t>
            </a:r>
            <a:endParaRPr lang="en-IN" sz="6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612340-7B31-6DBA-4656-EBF698111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262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589</Words>
  <Application>Microsoft Office PowerPoint</Application>
  <PresentationFormat>Widescreen</PresentationFormat>
  <Paragraphs>84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 Theme</vt:lpstr>
      <vt:lpstr>Identification and Prediction of Money Laundering Activities Using Big Data Analytics</vt:lpstr>
      <vt:lpstr>Introduction &amp; Motivation</vt:lpstr>
      <vt:lpstr>Objectives</vt:lpstr>
      <vt:lpstr>Literature Survey</vt:lpstr>
      <vt:lpstr>Proposed Methodology</vt:lpstr>
      <vt:lpstr>System Architecture</vt:lpstr>
      <vt:lpstr>Technologies &amp; Tools Used</vt:lpstr>
      <vt:lpstr>Expected Results &amp; Deliverables</vt:lpstr>
      <vt:lpstr>Output:</vt:lpstr>
      <vt:lpstr>PowerPoint Presentation</vt:lpstr>
      <vt:lpstr>PowerPoint Presentation</vt:lpstr>
      <vt:lpstr>References</vt:lpstr>
      <vt:lpstr>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Gullapalli Sheetal</dc:creator>
  <cp:lastModifiedBy>Gullapalli Sheetal</cp:lastModifiedBy>
  <cp:revision>6</cp:revision>
  <dcterms:created xsi:type="dcterms:W3CDTF">2026-02-19T03:24:36Z</dcterms:created>
  <dcterms:modified xsi:type="dcterms:W3CDTF">2026-04-24T09:00:14Z</dcterms:modified>
</cp:coreProperties>
</file>
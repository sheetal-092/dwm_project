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DFC756-57A7-4EB8-8B98-74ADB6929FD4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50E523-6544-479C-8887-9B5004224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49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50E523-6544-479C-8887-9B5004224FB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5713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07BBE-9E13-F838-94EB-44A91A4FC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5BE93D-0E84-8563-F73A-1741D4865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BB069-678A-E649-129D-1FFDB44D2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B82040-7787-53DE-C804-6C9E3B4C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C4A1F-ABEE-6038-B151-907590AD9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714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2FAF0-49C8-78F3-04E0-9CB0936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B901B-698C-5295-3094-441ED7954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7CD047-4388-9B85-421C-18514EC4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C467F-89E1-16BD-7796-E6D2F9B8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84A0A-59AF-2AA5-C9AA-EB3EFED7E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209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1B753-A7DD-EDE9-27C9-F6BCA63F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1BC4E-CB2D-0F73-C5E2-D19EFEC22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84968-3837-3FE7-3F92-2A4BB481B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BD54-319C-9CB0-9DBC-7079C11E8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33B41-7348-07CB-E2D9-E62188562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2252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F65D-894D-7280-2D94-C21CB336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0A262-7935-B487-EAC4-4413CAD5DE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85B11-DF84-8A6C-E6D5-401D8CF89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A5839-9D1F-B413-33DD-B8FE73AD5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4CA65-BEEA-0D60-D61A-B3E17358A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C9B64-5117-067C-1F92-DCCE9894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2480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B18C8-EB16-0642-D12E-189053D8A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94694-52AF-C2DD-DF34-4013ABFB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9F1977-4B3A-0354-D603-812E1F16C2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37FC0-F522-F41E-6E15-F00E802CF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D94DBC-2235-A4DA-DCAC-5DA757179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CA2AB5-345A-5977-E2B1-E48D9FB1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46A60-3124-4D36-741F-57F12F5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91EC01-E72D-90EC-CDA1-D72E54CA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741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55986-091D-A0DF-C390-09EC834F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9AB47-2AFA-D5E1-0B6E-44D2189A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5A91D5-1906-B5A5-F8F8-0BBA2B77F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E9F18-92A8-7A30-5F2F-F09369E54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430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E6B84A-F527-E06C-9389-0BE35D92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4D1668-A53A-1B5C-3166-6D1D57B7C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2840D-1B76-03DA-C23C-CD621ED0B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295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112E-B25A-7E68-EB70-A9637CCAB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1F878-CB4D-3CFF-2F1C-73245D519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EB6878-87D9-1B43-83AC-43BD93C17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8874E8-4A8B-72CD-FA81-DFD11E486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9292A5-EADF-D264-6EEE-D5712AEB6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2F0A9-B7F0-F8D1-0981-CE5AA1717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858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C3ADE-4E0D-552B-FD1B-3192A5B65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605967-86E4-EE9C-4EA1-32C842982D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2725C-3C0F-D8DE-CB58-C5D406E53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FC8DA9-787D-7CEE-D46A-1835017E9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BE406E-FD2B-348D-81D2-AD44BB561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9D8A2D-35C4-D14F-F2AE-6AF26ED9A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5116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E964-6ABB-0A69-1327-B63A358F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03860-CB63-A57A-8C76-A91B74D4D4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A0324-AA3C-123B-A232-965B58B56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42B4F-1833-DA20-7F69-1EB7FD42D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4A43-013D-8CFF-D7D6-04DC76B8E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1176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4D0E-6AB9-5617-AD3B-F64F7855AE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D8034D-6442-4879-03D0-3CBB4F720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B5773-9972-9B12-36E9-DB91687D8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F3C13-0428-ADA2-86C5-1D5B56B1C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7ECB-BF88-537F-F848-DF03AE2D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98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D3E777-08DD-037C-6B7F-E3B6AC6C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B21B2-F2ED-505E-717A-8B494B7D3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23BB51-56FE-BFF6-1542-BB0ADF7D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C5A48-C080-8AFA-BBF1-CB670EF4E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BAFBA-5342-BF23-4614-C2D5443E4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1097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hyperlink" Target="https://www.researchgate.net/publication/393329480_Machine_Learning_for_Fraud_Detection_in_Financial_Transactions?utm" TargetMode="External"/><Relationship Id="rId7" Type="http://schemas.openxmlformats.org/officeDocument/2006/relationships/hyperlink" Target="https://arxiv.org/abs/2503.10058?utm" TargetMode="External"/><Relationship Id="rId2" Type="http://schemas.openxmlformats.org/officeDocument/2006/relationships/hyperlink" Target="https://ijaseit.insightsociety.org/index.php/ijaseit/article/view/13160?u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dpi.com/2076-3417/12/19/9637?utm" TargetMode="External"/><Relationship Id="rId5" Type="http://schemas.openxmlformats.org/officeDocument/2006/relationships/hyperlink" Target="https://www.ijset.in/wp-content/uploads/IJSET_V13_issue6_144.pdf?utm" TargetMode="External"/><Relationship Id="rId4" Type="http://schemas.openxmlformats.org/officeDocument/2006/relationships/hyperlink" Target="https://www.researchgate.net/publication/388724525_Financial_Fraud_Detection_For_Credit_Card_Transactions_using_Apache_Spark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CF8A9-4CDB-91D2-963A-00476B34E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8409"/>
            <a:ext cx="9144000" cy="2387600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and Prediction of Money Laundering Activities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BDB76E-6504-2CF3-D357-7530960BF6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5368" y="3289055"/>
            <a:ext cx="9430389" cy="2326219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Raga Amrutha Ratna – 2320030355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Sheetal – 2320030092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Lavanya Reddy – 2320090004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Sreya Tulasi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Kolasani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- 2320090037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 – 4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Name – Dr. P Krishna Kishore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27224C-8273-2634-8798-608FBC698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45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CB898-E372-3952-FBBF-5B602835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777" y="230113"/>
            <a:ext cx="10515600" cy="1325563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21F1D-F391-3DB3-3ACB-FB60D5446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56" y="1460572"/>
            <a:ext cx="10703287" cy="4912759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institutions generate massive transaction data daily.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Detecting money laundering patterns manually is difficult.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systems struggle with large-scale, complex financial data.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in financial fraud and illicit transactions.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automated, scalable fraud detection systems.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+ Machine Learning can improve detection accuracy.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Relevance Supports banks and regulatory bodies.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reduce financial crime risks.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trust in digital financial systems.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3A897C-CB68-A6A6-7006-DBAD8BA35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39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96AA-37ED-F34D-B1F3-31AB1C969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A61A6-C288-2E6C-75FC-7B200CED2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063" y="1825625"/>
            <a:ext cx="10515600" cy="3255739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Goals:</a:t>
            </a:r>
          </a:p>
          <a:p>
            <a:pPr marL="0" indent="0">
              <a:buNone/>
            </a:pP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large-scale financial transaction datasets.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suspicious transaction patterns.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high-risk transactions and accounts.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Outcomes: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Big Data processing pipeline.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model capable of fraud prediction.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detection of potential money laundering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A61791-85B6-C4C2-AB92-D303CD1B5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070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78F1-6F1B-5413-D8FA-9BF379AF0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B8CA9-804B-47DE-6FC3-E5D70EC07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81" y="1521941"/>
            <a:ext cx="10961038" cy="4222196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Rule-based Anti-Money Laundering (AML) systems.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anomaly detection techniques.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learning-based fraud detection approaches.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/ Research Gaps: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 scalability for big transaction datasets.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false positives in rule-based systems.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integration of Big Data frameworks with ML.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 Identified: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scalable AML systems combining distributed processing with predictive ML models.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8A001-5AF9-6F8F-447C-9CCAC12CC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986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32E50-B163-6C10-922C-06ACBB4A6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7BB7D-356F-33CB-A2AE-E69DB66D3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public and synthetic financial transaction datasets.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 and clean data.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distributed processing using Apache Spark.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features (amount, frequency, time intervals, sender/receiver).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Machine Learning models for prediction.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model performance.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/ Tools: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ecosystem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/ </a:t>
            </a:r>
            <a:r>
              <a:rPr lang="en-IN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tools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17BAF9-4172-4255-FF1A-EAEC14C45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796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0B579-0F7A-8CEE-6F29-77BC308FA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3FA588-B747-1B3B-FD8A-D623C9CD3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E66299-EC2F-E6F3-9E04-2F06D851F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37" y="1816526"/>
            <a:ext cx="6360525" cy="395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81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7EBD-7E85-D950-B903-51BEDB5C2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Expected Results &amp;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16F64-199A-4E49-4D40-9DDD9C120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Results: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suspicious transaction patterns.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of high-risk accounts.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AML detection framework.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Deliverables Big Data processing pipeline.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ML model.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report.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Timeline: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Week 1–2: Dataset collection &amp; preprocessing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Week 3–4: Spark implementation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Week 5–6: Model training &amp; evaluation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Week 7: Results &amp; documentation</a:t>
            </a:r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C8BCBB-A46C-D5C7-5BFD-D95512423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66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5EAB2-DAC0-424A-1B63-232AEE7C8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544DC-A348-F855-8C79-7E5A44C83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97206"/>
          </a:xfrm>
        </p:spPr>
        <p:txBody>
          <a:bodyPr>
            <a:no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Fraud Detection using Machine Learning – IEEE  </a:t>
            </a:r>
            <a:r>
              <a:rPr lang="en-IN" sz="1800" u="sng" dirty="0">
                <a:hlinkClick r:id="rId2"/>
              </a:rPr>
              <a:t>https://ijaseit.insightsociety.org/index.php/ijaseit/article/view/13160?utm</a:t>
            </a:r>
            <a:endParaRPr lang="en-IN" sz="1800" u="sng" dirty="0"/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Analytics in Banking – Springer </a:t>
            </a:r>
            <a:r>
              <a:rPr lang="en-IN" sz="1800" u="sng" dirty="0">
                <a:hlinkClick r:id="rId3"/>
              </a:rPr>
              <a:t>https://www.researchgate.net/publication/393329480_Machine_Learning_for_Fraud_Detection_in_Financial_Transactions?utm</a:t>
            </a:r>
            <a:endParaRPr lang="en-IN" sz="1800" u="sng" dirty="0"/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Anti-Money Laundering Detection using Data Mining – Elsevier </a:t>
            </a:r>
            <a:r>
              <a:rPr lang="en-IN" sz="1800" u="sng" dirty="0">
                <a:hlinkClick r:id="rId4"/>
              </a:rPr>
              <a:t>https://www.researchgate.net/publication/388724525_Financial_Fraud_Detection_For_Credit_Card_Transactions_using_Apache_Spark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Apache Spark for Financial Analytics – ACM </a:t>
            </a:r>
            <a:r>
              <a:rPr lang="en-IN" sz="1800" u="sng" dirty="0">
                <a:hlinkClick r:id="rId5"/>
              </a:rPr>
              <a:t>https://www.ijset.in/wp-content/uploads/IJSET_V13_issue6_144.pdf?utm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for Fraud Detection – IEEE Access </a:t>
            </a:r>
            <a:r>
              <a:rPr lang="en-IN" sz="1800" u="sng" dirty="0">
                <a:hlinkClick r:id="rId6"/>
              </a:rPr>
              <a:t>https://www.mdpi.com/2076-3417/12/19/9637?utm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Applications in Banking Security – Wiley </a:t>
            </a:r>
            <a:r>
              <a:rPr lang="en-IN" sz="1800" u="sng" dirty="0">
                <a:hlinkClick r:id="rId7"/>
              </a:rPr>
              <a:t>https://arxiv.org/abs/2503.10058?utm</a:t>
            </a:r>
            <a:endParaRPr lang="en-IN" sz="1800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4B53ED-F78D-FCBF-DF5F-215E7A0930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378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B209-D8F3-A366-A15B-210FE6281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6011" y="2258384"/>
            <a:ext cx="4197647" cy="1638556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Thank You</a:t>
            </a:r>
            <a:endParaRPr lang="en-IN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612340-7B31-6DBA-4656-EBF698111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262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542</Words>
  <Application>Microsoft Office PowerPoint</Application>
  <PresentationFormat>Widescreen</PresentationFormat>
  <Paragraphs>78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Identification and Prediction of Money Laundering Activities</vt:lpstr>
      <vt:lpstr>Introduction &amp; Motivation</vt:lpstr>
      <vt:lpstr>Objectives</vt:lpstr>
      <vt:lpstr>Literature Survey</vt:lpstr>
      <vt:lpstr>Proposed Methodology</vt:lpstr>
      <vt:lpstr>System Architecture</vt:lpstr>
      <vt:lpstr>Expected Results &amp; Deliverables</vt:lpstr>
      <vt:lpstr>References</vt:lpstr>
      <vt:lpstr>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Gullapalli Sheetal</dc:creator>
  <cp:lastModifiedBy>Gullapalli Sheetal</cp:lastModifiedBy>
  <cp:revision>8</cp:revision>
  <dcterms:created xsi:type="dcterms:W3CDTF">2026-02-19T03:24:36Z</dcterms:created>
  <dcterms:modified xsi:type="dcterms:W3CDTF">2026-04-24T09:09:09Z</dcterms:modified>
</cp:coreProperties>
</file>